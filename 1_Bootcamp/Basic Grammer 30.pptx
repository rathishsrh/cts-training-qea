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80" r:id="rId2"/>
    <p:sldId id="278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2C4E75-E5ED-41EC-9A2A-43AE1993505A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9240F-C99F-449E-9B43-56C0756771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949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9240F-C99F-449E-9B43-56C0756771B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38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62B6E-6FB8-0D41-0101-7884EB075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73959-366C-1381-9607-CA54744FF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32C7E-6694-5481-E1DE-7DEB0C1B4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42FDE-93E5-4A97-923D-5D4CFAAE1385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F1949-A9FD-AF03-087C-993F15EDB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599A5-228C-B494-3AD5-A8BE067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EB3F-A0FC-43FD-BA8C-622727A9E7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592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3806B-8910-73D7-3417-FBA4CAB04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BCBA5-019E-1C70-9FE4-3B454EBEC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5E266-9A4E-CB3E-F787-901089E66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42FDE-93E5-4A97-923D-5D4CFAAE1385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5262A-CF15-E285-A2BE-57A5BD9C1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051B8-0C64-1BED-63B1-7AF598B03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EB3F-A0FC-43FD-BA8C-622727A9E7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256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824B0-5A0E-2F66-AC66-850D28998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BC6F0-B65F-2F4B-CAB8-6416A6080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D481C-9233-9278-18EC-C5560983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42FDE-93E5-4A97-923D-5D4CFAAE1385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5F224-3F49-41CC-1DC8-6F99B940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7851C-4186-167A-C9E2-ED3DE4DC2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EB3F-A0FC-43FD-BA8C-622727A9E7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43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7866-670D-6F2F-2A68-E58DF5D55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05253-AF01-739B-1771-20392B1C21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59D68E-73C5-53A2-618D-B37614F32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9C703-824C-1766-0665-E14082C5A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42FDE-93E5-4A97-923D-5D4CFAAE1385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5ACF2-7556-2579-D616-50F6AADF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D9851-766B-922D-655C-26AFC8EA7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EB3F-A0FC-43FD-BA8C-622727A9E7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2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9AF99-9481-79AA-1F24-8109C352D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AA78E-D79C-A405-0D79-B8CD34DFD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0E318-A8E6-5C9A-593B-D8B5473C7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DD2CD0-C26E-8D94-7772-0838B7D53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6898F1-7286-9365-E749-E9525C5C1B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7BC39-966A-A34A-BDFA-B7496F5EE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42FDE-93E5-4A97-923D-5D4CFAAE1385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3085D5-425A-60DE-F513-A37AEBDE4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F64433-BDD9-25B3-21DB-31D1D74DB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EB3F-A0FC-43FD-BA8C-622727A9E7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42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D3B81-61E2-D49F-E8E3-1C191A8A4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2973F9-5DC4-66DD-E264-70B113B2B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42FDE-93E5-4A97-923D-5D4CFAAE1385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9A1A22-4B45-FFE7-9780-214844BA5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1BB366-0DA2-6B1E-D199-2B1460908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EB3F-A0FC-43FD-BA8C-622727A9E7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34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1F1A70-065A-5C4F-B550-5D643AA27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42FDE-93E5-4A97-923D-5D4CFAAE1385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8E64DA-AD8B-ADBA-67DE-F23DF2A52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B23B9-79DE-86E7-10ED-14D191E84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EB3F-A0FC-43FD-BA8C-622727A9E7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317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7298B-002A-F97C-9BC3-BF7905EC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38C03-AC99-4997-01FB-41EDBCB2E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393F21-3201-898E-7E02-DBC884775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07EE9-02C0-A951-DDC3-6859DE9FF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42FDE-93E5-4A97-923D-5D4CFAAE1385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211BC-066F-D9F0-80E0-F50B29ED0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DB062-A00E-0D44-5C52-9F28AD885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EB3F-A0FC-43FD-BA8C-622727A9E7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28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83D98-FD5B-6568-D860-A8AD1D6E9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991051-5F62-C1B1-56F7-F4392FD3C6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AEE722-1AA8-69D3-0B32-A6084E755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5A433-BF4F-4B47-E525-FDE2FDED1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42FDE-93E5-4A97-923D-5D4CFAAE1385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BA12A-34FC-CC31-96E3-8FBBA109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53CBD-97DE-12FD-D504-5FB9FBF5B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EB3F-A0FC-43FD-BA8C-622727A9E7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696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53D85-125C-CFB0-CA08-2966633ED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376244-6D28-7B9F-1479-40F170B85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FC701-33E2-EBEB-913A-30EB4BD1C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42FDE-93E5-4A97-923D-5D4CFAAE1385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07C2A-3DBC-7860-EAB0-84D56EC77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EDC06-4C17-5F2D-8507-CAD07A535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EB3F-A0FC-43FD-BA8C-622727A9E7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24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2235F1-4C3B-BEB5-BE78-68413298B8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B843F7-D879-5D06-EB7C-7CF92180D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FA99D-CFC1-0948-F3B2-26E62B936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42FDE-93E5-4A97-923D-5D4CFAAE1385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88901-0A46-5338-A14F-EC09B7E40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8397C-6A53-BBAF-CB94-45FE79288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4EB3F-A0FC-43FD-BA8C-622727A9E7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955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9121E5-63B9-0033-ABEB-5A698699F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59AB5-39BB-519F-AA94-0108CCA01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E897A-D753-3D8D-37A9-0ADFE31ED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42FDE-93E5-4A97-923D-5D4CFAAE1385}" type="datetimeFigureOut">
              <a:rPr lang="en-IN" smtClean="0"/>
              <a:t>13-11-2024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A3499-D8CF-C27C-198B-970EE7B561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D97E1-8611-6E9F-BE77-1774B08FA4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4EB3F-A0FC-43FD-BA8C-622727A9E7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976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A5B9-1153-6DD5-9080-499E36416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704" y="1469835"/>
            <a:ext cx="9144000" cy="2387600"/>
          </a:xfrm>
        </p:spPr>
        <p:txBody>
          <a:bodyPr>
            <a:normAutofit/>
          </a:bodyPr>
          <a:lstStyle/>
          <a:p>
            <a:r>
              <a:rPr lang="en-US" sz="9600" b="1" dirty="0"/>
              <a:t>Basic Grammer</a:t>
            </a:r>
            <a:endParaRPr lang="en-IN" sz="9600" b="1" dirty="0"/>
          </a:p>
        </p:txBody>
      </p:sp>
    </p:spTree>
    <p:extLst>
      <p:ext uri="{BB962C8B-B14F-4D97-AF65-F5344CB8AC3E}">
        <p14:creationId xmlns:p14="http://schemas.microsoft.com/office/powerpoint/2010/main" val="2760228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8 Parts of speech in English - Complete Details and Explanation Tables">
            <a:extLst>
              <a:ext uri="{FF2B5EF4-FFF2-40B4-BE49-F238E27FC236}">
                <a16:creationId xmlns:a16="http://schemas.microsoft.com/office/drawing/2014/main" id="{01AC5B0D-31BC-555A-10D9-1BF69EB446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8 Parts of speech in English - Complete Details and Explanation Tables">
            <a:extLst>
              <a:ext uri="{FF2B5EF4-FFF2-40B4-BE49-F238E27FC236}">
                <a16:creationId xmlns:a16="http://schemas.microsoft.com/office/drawing/2014/main" id="{F3D30720-57EB-5DBD-3C93-B3DE852D86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4" name="Picture 6" descr="Quia - Class Page - Hawbaker">
            <a:extLst>
              <a:ext uri="{FF2B5EF4-FFF2-40B4-BE49-F238E27FC236}">
                <a16:creationId xmlns:a16="http://schemas.microsoft.com/office/drawing/2014/main" id="{BBF9184C-AE75-5F80-50B8-9D58A18E1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63" y="298174"/>
            <a:ext cx="12014073" cy="6261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4033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992B-CCC5-37D5-4988-016C87168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256" y="1424115"/>
            <a:ext cx="9144000" cy="2387600"/>
          </a:xfrm>
        </p:spPr>
        <p:txBody>
          <a:bodyPr>
            <a:normAutofit/>
          </a:bodyPr>
          <a:lstStyle/>
          <a:p>
            <a:r>
              <a:rPr lang="en-US" sz="9600" b="1" dirty="0"/>
              <a:t>Past Tense</a:t>
            </a:r>
            <a:endParaRPr lang="en-IN" sz="9600" b="1" dirty="0"/>
          </a:p>
        </p:txBody>
      </p:sp>
    </p:spTree>
    <p:extLst>
      <p:ext uri="{BB962C8B-B14F-4D97-AF65-F5344CB8AC3E}">
        <p14:creationId xmlns:p14="http://schemas.microsoft.com/office/powerpoint/2010/main" val="1990400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74E307-1A5D-ECB2-B920-945059AEA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115142"/>
              </p:ext>
            </p:extLst>
          </p:nvPr>
        </p:nvGraphicFramePr>
        <p:xfrm>
          <a:off x="1097280" y="1042417"/>
          <a:ext cx="10122408" cy="479145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14004">
                  <a:extLst>
                    <a:ext uri="{9D8B030D-6E8A-4147-A177-3AD203B41FA5}">
                      <a16:colId xmlns:a16="http://schemas.microsoft.com/office/drawing/2014/main" val="1724800616"/>
                    </a:ext>
                  </a:extLst>
                </a:gridCol>
                <a:gridCol w="4295954">
                  <a:extLst>
                    <a:ext uri="{9D8B030D-6E8A-4147-A177-3AD203B41FA5}">
                      <a16:colId xmlns:a16="http://schemas.microsoft.com/office/drawing/2014/main" val="3713570872"/>
                    </a:ext>
                  </a:extLst>
                </a:gridCol>
                <a:gridCol w="3912450">
                  <a:extLst>
                    <a:ext uri="{9D8B030D-6E8A-4147-A177-3AD203B41FA5}">
                      <a16:colId xmlns:a16="http://schemas.microsoft.com/office/drawing/2014/main" val="2015691609"/>
                    </a:ext>
                  </a:extLst>
                </a:gridCol>
              </a:tblGrid>
              <a:tr h="7969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SUBJECT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SINGULAR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PLURAL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4485395"/>
                  </a:ext>
                </a:extLst>
              </a:tr>
              <a:tr h="13314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1st Person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I</a:t>
                      </a:r>
                      <a:r>
                        <a:rPr lang="en-US" sz="2400" u="none" strike="noStrike" dirty="0">
                          <a:effectLst/>
                        </a:rPr>
                        <a:t> write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We</a:t>
                      </a:r>
                      <a:r>
                        <a:rPr lang="en-US" sz="2400" u="none" strike="noStrike" dirty="0">
                          <a:effectLst/>
                        </a:rPr>
                        <a:t> write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409914"/>
                  </a:ext>
                </a:extLst>
              </a:tr>
              <a:tr h="13314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2nd Person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You </a:t>
                      </a:r>
                      <a:r>
                        <a:rPr lang="en-US" sz="2400" u="none" strike="noStrike" dirty="0">
                          <a:effectLst/>
                        </a:rPr>
                        <a:t>write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You</a:t>
                      </a:r>
                      <a:r>
                        <a:rPr lang="en-US" sz="2400" u="none" strike="noStrike" dirty="0">
                          <a:effectLst/>
                        </a:rPr>
                        <a:t> write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5807636"/>
                  </a:ext>
                </a:extLst>
              </a:tr>
              <a:tr h="13314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3rd Person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He/She/It </a:t>
                      </a:r>
                      <a:r>
                        <a:rPr lang="en-US" sz="2400" u="none" strike="noStrike" dirty="0">
                          <a:effectLst/>
                        </a:rPr>
                        <a:t>writes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They</a:t>
                      </a:r>
                      <a:r>
                        <a:rPr lang="en-US" sz="2400" u="none" strike="noStrike" dirty="0">
                          <a:effectLst/>
                        </a:rPr>
                        <a:t> write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127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011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77BB58-009F-850E-DC86-56B095067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830049"/>
              </p:ext>
            </p:extLst>
          </p:nvPr>
        </p:nvGraphicFramePr>
        <p:xfrm>
          <a:off x="291549" y="737488"/>
          <a:ext cx="11608902" cy="534327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3140765">
                  <a:extLst>
                    <a:ext uri="{9D8B030D-6E8A-4147-A177-3AD203B41FA5}">
                      <a16:colId xmlns:a16="http://schemas.microsoft.com/office/drawing/2014/main" val="1575153540"/>
                    </a:ext>
                  </a:extLst>
                </a:gridCol>
                <a:gridCol w="4664765">
                  <a:extLst>
                    <a:ext uri="{9D8B030D-6E8A-4147-A177-3AD203B41FA5}">
                      <a16:colId xmlns:a16="http://schemas.microsoft.com/office/drawing/2014/main" val="3307666083"/>
                    </a:ext>
                  </a:extLst>
                </a:gridCol>
                <a:gridCol w="3803372">
                  <a:extLst>
                    <a:ext uri="{9D8B030D-6E8A-4147-A177-3AD203B41FA5}">
                      <a16:colId xmlns:a16="http://schemas.microsoft.com/office/drawing/2014/main" val="2748357766"/>
                    </a:ext>
                  </a:extLst>
                </a:gridCol>
              </a:tblGrid>
              <a:tr h="5761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TENSES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APPLICATION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EXAMPLE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885597"/>
                  </a:ext>
                </a:extLst>
              </a:tr>
              <a:tr h="11917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Past Simple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 or event that happened in the past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She met me at the cafeteria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2427792"/>
                  </a:ext>
                </a:extLst>
              </a:tr>
              <a:tr h="11917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Past Perfect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action or event happened in the past before another event that happened in the past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 had eaten his lunch before we reached the venue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0952476"/>
                  </a:ext>
                </a:extLst>
              </a:tr>
              <a:tr h="11917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Past Continuous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 or event that was continuing in the past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was raining last week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096800"/>
                  </a:ext>
                </a:extLst>
              </a:tr>
              <a:tr h="11917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Past Perfect Continuous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 or event that was taking place in the past until another action or event happened in the past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 had been practicing the guitar when the teacher called for him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3916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7490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B185A401-9653-807E-5BFF-37A2BBE5BA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5398691"/>
              </p:ext>
            </p:extLst>
          </p:nvPr>
        </p:nvGraphicFramePr>
        <p:xfrm>
          <a:off x="463826" y="1046922"/>
          <a:ext cx="11341078" cy="451263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3378730">
                  <a:extLst>
                    <a:ext uri="{9D8B030D-6E8A-4147-A177-3AD203B41FA5}">
                      <a16:colId xmlns:a16="http://schemas.microsoft.com/office/drawing/2014/main" val="2335065552"/>
                    </a:ext>
                  </a:extLst>
                </a:gridCol>
                <a:gridCol w="7962348">
                  <a:extLst>
                    <a:ext uri="{9D8B030D-6E8A-4147-A177-3AD203B41FA5}">
                      <a16:colId xmlns:a16="http://schemas.microsoft.com/office/drawing/2014/main" val="4135953416"/>
                    </a:ext>
                  </a:extLst>
                </a:gridCol>
              </a:tblGrid>
              <a:tr h="9636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TENSES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RULES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686223"/>
                  </a:ext>
                </a:extLst>
              </a:tr>
              <a:tr h="8872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Past Simple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Subject + Verb/Verb+ed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6443428"/>
                  </a:ext>
                </a:extLst>
              </a:tr>
              <a:tr h="8872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Past Perfect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Subject + had + Verb+ed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510078"/>
                  </a:ext>
                </a:extLst>
              </a:tr>
              <a:tr h="8872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Past Continuous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Subject + was/were +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Verb+ing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571405"/>
                  </a:ext>
                </a:extLst>
              </a:tr>
              <a:tr h="8872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Past Perfect Continuous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Subject + had been +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Verb+ing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166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192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54641D55-D931-E6FE-2DB3-F7389A6D4B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6437864"/>
              </p:ext>
            </p:extLst>
          </p:nvPr>
        </p:nvGraphicFramePr>
        <p:xfrm>
          <a:off x="311426" y="765313"/>
          <a:ext cx="11569147" cy="532737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199">
                  <a:extLst>
                    <a:ext uri="{9D8B030D-6E8A-4147-A177-3AD203B41FA5}">
                      <a16:colId xmlns:a16="http://schemas.microsoft.com/office/drawing/2014/main" val="4249112320"/>
                    </a:ext>
                  </a:extLst>
                </a:gridCol>
                <a:gridCol w="2745812">
                  <a:extLst>
                    <a:ext uri="{9D8B030D-6E8A-4147-A177-3AD203B41FA5}">
                      <a16:colId xmlns:a16="http://schemas.microsoft.com/office/drawing/2014/main" val="3548039896"/>
                    </a:ext>
                  </a:extLst>
                </a:gridCol>
                <a:gridCol w="3159287">
                  <a:extLst>
                    <a:ext uri="{9D8B030D-6E8A-4147-A177-3AD203B41FA5}">
                      <a16:colId xmlns:a16="http://schemas.microsoft.com/office/drawing/2014/main" val="1581287346"/>
                    </a:ext>
                  </a:extLst>
                </a:gridCol>
                <a:gridCol w="2920849">
                  <a:extLst>
                    <a:ext uri="{9D8B030D-6E8A-4147-A177-3AD203B41FA5}">
                      <a16:colId xmlns:a16="http://schemas.microsoft.com/office/drawing/2014/main" val="2698945577"/>
                    </a:ext>
                  </a:extLst>
                </a:gridCol>
              </a:tblGrid>
              <a:tr h="4994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TENSES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AFFIRMATIVE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NEGATIVE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INTERROGATIVE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035879"/>
                  </a:ext>
                </a:extLst>
              </a:tr>
              <a:tr h="12069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Past Simple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 lived in London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 didn’t live in London</a:t>
                      </a:r>
                    </a:p>
                  </a:txBody>
                  <a:tcPr marL="142875" marR="142875" marT="66675" marB="66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Did I live in London?</a:t>
                      </a:r>
                    </a:p>
                  </a:txBody>
                  <a:tcPr marL="142875" marR="142875" marT="66675" marB="66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9964200"/>
                  </a:ext>
                </a:extLst>
              </a:tr>
              <a:tr h="12069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Past Perfect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 had worked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 had not worked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Had he worked?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695672"/>
                  </a:ext>
                </a:extLst>
              </a:tr>
              <a:tr h="12069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Past Continuous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 was playing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 wasn’t playing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Was I playing?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93454"/>
                  </a:ext>
                </a:extLst>
              </a:tr>
              <a:tr h="12069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Past Perfect Continuous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 had been watching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 had not been watching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Had I been watching?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512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4619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C7B3D-C0DD-FE8E-8407-9ED2CB2F0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2675"/>
            <a:ext cx="9144000" cy="2387600"/>
          </a:xfrm>
        </p:spPr>
        <p:txBody>
          <a:bodyPr>
            <a:normAutofit/>
          </a:bodyPr>
          <a:lstStyle/>
          <a:p>
            <a:r>
              <a:rPr lang="en-US" sz="9600" b="1" dirty="0"/>
              <a:t>Present Tense</a:t>
            </a:r>
            <a:endParaRPr lang="en-IN" sz="9600" b="1" dirty="0"/>
          </a:p>
        </p:txBody>
      </p:sp>
    </p:spTree>
    <p:extLst>
      <p:ext uri="{BB962C8B-B14F-4D97-AF65-F5344CB8AC3E}">
        <p14:creationId xmlns:p14="http://schemas.microsoft.com/office/powerpoint/2010/main" val="4163123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AD46518-C8A8-D80D-BFD2-594073265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046627"/>
              </p:ext>
            </p:extLst>
          </p:nvPr>
        </p:nvGraphicFramePr>
        <p:xfrm>
          <a:off x="1069848" y="1261872"/>
          <a:ext cx="10003536" cy="41970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91528">
                  <a:extLst>
                    <a:ext uri="{9D8B030D-6E8A-4147-A177-3AD203B41FA5}">
                      <a16:colId xmlns:a16="http://schemas.microsoft.com/office/drawing/2014/main" val="3894373592"/>
                    </a:ext>
                  </a:extLst>
                </a:gridCol>
                <a:gridCol w="4245504">
                  <a:extLst>
                    <a:ext uri="{9D8B030D-6E8A-4147-A177-3AD203B41FA5}">
                      <a16:colId xmlns:a16="http://schemas.microsoft.com/office/drawing/2014/main" val="825396477"/>
                    </a:ext>
                  </a:extLst>
                </a:gridCol>
                <a:gridCol w="3866504">
                  <a:extLst>
                    <a:ext uri="{9D8B030D-6E8A-4147-A177-3AD203B41FA5}">
                      <a16:colId xmlns:a16="http://schemas.microsoft.com/office/drawing/2014/main" val="3242745025"/>
                    </a:ext>
                  </a:extLst>
                </a:gridCol>
              </a:tblGrid>
              <a:tr h="69812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SUBJECT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SINGULAR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PLURAL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0133374"/>
                  </a:ext>
                </a:extLst>
              </a:tr>
              <a:tr h="11663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1st Person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I</a:t>
                      </a:r>
                      <a:r>
                        <a:rPr lang="en-US" sz="2400" u="none" strike="noStrike" dirty="0">
                          <a:effectLst/>
                        </a:rPr>
                        <a:t> write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We</a:t>
                      </a:r>
                      <a:r>
                        <a:rPr lang="en-US" sz="2400" u="none" strike="noStrike" dirty="0">
                          <a:effectLst/>
                        </a:rPr>
                        <a:t> write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392113"/>
                  </a:ext>
                </a:extLst>
              </a:tr>
              <a:tr h="11663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2nd Person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You </a:t>
                      </a:r>
                      <a:r>
                        <a:rPr lang="en-US" sz="2400" u="none" strike="noStrike" dirty="0">
                          <a:effectLst/>
                        </a:rPr>
                        <a:t>write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You</a:t>
                      </a:r>
                      <a:r>
                        <a:rPr lang="en-US" sz="2400" u="none" strike="noStrike" dirty="0">
                          <a:effectLst/>
                        </a:rPr>
                        <a:t> write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331951"/>
                  </a:ext>
                </a:extLst>
              </a:tr>
              <a:tr h="11663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3rd Person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He/She/It </a:t>
                      </a:r>
                      <a:r>
                        <a:rPr lang="en-US" sz="2400" u="none" strike="noStrike" dirty="0">
                          <a:effectLst/>
                        </a:rPr>
                        <a:t>writes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They</a:t>
                      </a:r>
                      <a:r>
                        <a:rPr lang="en-US" sz="2400" u="none" strike="noStrike" dirty="0">
                          <a:effectLst/>
                        </a:rPr>
                        <a:t> write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65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868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0B4695-35A6-D678-45DF-9539D3826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600927"/>
              </p:ext>
            </p:extLst>
          </p:nvPr>
        </p:nvGraphicFramePr>
        <p:xfrm>
          <a:off x="291549" y="865505"/>
          <a:ext cx="11608902" cy="499607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3140765">
                  <a:extLst>
                    <a:ext uri="{9D8B030D-6E8A-4147-A177-3AD203B41FA5}">
                      <a16:colId xmlns:a16="http://schemas.microsoft.com/office/drawing/2014/main" val="1035387022"/>
                    </a:ext>
                  </a:extLst>
                </a:gridCol>
                <a:gridCol w="4760710">
                  <a:extLst>
                    <a:ext uri="{9D8B030D-6E8A-4147-A177-3AD203B41FA5}">
                      <a16:colId xmlns:a16="http://schemas.microsoft.com/office/drawing/2014/main" val="3973717617"/>
                    </a:ext>
                  </a:extLst>
                </a:gridCol>
                <a:gridCol w="3707427">
                  <a:extLst>
                    <a:ext uri="{9D8B030D-6E8A-4147-A177-3AD203B41FA5}">
                      <a16:colId xmlns:a16="http://schemas.microsoft.com/office/drawing/2014/main" val="2890902831"/>
                    </a:ext>
                  </a:extLst>
                </a:gridCol>
              </a:tblGrid>
              <a:tr h="5387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TENSES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APPLICATION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EXAMPLE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4761794"/>
                  </a:ext>
                </a:extLst>
              </a:tr>
              <a:tr h="11143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Present Simple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Current action or an action that takes place regularly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I go to office everyday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906620"/>
                  </a:ext>
                </a:extLst>
              </a:tr>
              <a:tr h="11143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Present Perfect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Action that started in the past and continues in the present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 have lived in London since 2001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3418056"/>
                  </a:ext>
                </a:extLst>
              </a:tr>
              <a:tr h="11143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Present Continuous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Action that is continuing at the present moment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 is watching a movie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4027083"/>
                  </a:ext>
                </a:extLst>
              </a:tr>
              <a:tr h="11143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Present Perfect Continuous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Action that began in the recent past and is still continuing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 have been waiting for them for a long time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5130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322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CED5F76-6BC2-CEAB-0C78-EA08DC0BD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927756"/>
              </p:ext>
            </p:extLst>
          </p:nvPr>
        </p:nvGraphicFramePr>
        <p:xfrm>
          <a:off x="393192" y="1194689"/>
          <a:ext cx="11328355" cy="4326836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3008376">
                  <a:extLst>
                    <a:ext uri="{9D8B030D-6E8A-4147-A177-3AD203B41FA5}">
                      <a16:colId xmlns:a16="http://schemas.microsoft.com/office/drawing/2014/main" val="3011709262"/>
                    </a:ext>
                  </a:extLst>
                </a:gridCol>
                <a:gridCol w="4467246">
                  <a:extLst>
                    <a:ext uri="{9D8B030D-6E8A-4147-A177-3AD203B41FA5}">
                      <a16:colId xmlns:a16="http://schemas.microsoft.com/office/drawing/2014/main" val="3129650323"/>
                    </a:ext>
                  </a:extLst>
                </a:gridCol>
                <a:gridCol w="3852733">
                  <a:extLst>
                    <a:ext uri="{9D8B030D-6E8A-4147-A177-3AD203B41FA5}">
                      <a16:colId xmlns:a16="http://schemas.microsoft.com/office/drawing/2014/main" val="512001122"/>
                    </a:ext>
                  </a:extLst>
                </a:gridCol>
              </a:tblGrid>
              <a:tr h="6096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TENSES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RULES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861592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SINGULAR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PLURAL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287817"/>
                  </a:ext>
                </a:extLst>
              </a:tr>
              <a:tr h="8150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Present Simple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Subject + Verb/</a:t>
                      </a:r>
                      <a:r>
                        <a:rPr lang="en-US" sz="2000" u="none" strike="noStrike" dirty="0" err="1">
                          <a:effectLst/>
                        </a:rPr>
                        <a:t>Verb+s</a:t>
                      </a:r>
                      <a:r>
                        <a:rPr lang="en-US" sz="2000" u="none" strike="noStrike" dirty="0">
                          <a:effectLst/>
                        </a:rPr>
                        <a:t> (3</a:t>
                      </a:r>
                      <a:r>
                        <a:rPr lang="en-US" sz="2000" u="none" strike="noStrike" baseline="30000" dirty="0">
                          <a:effectLst/>
                        </a:rPr>
                        <a:t>rd</a:t>
                      </a:r>
                      <a:r>
                        <a:rPr lang="en-US" sz="2000" u="none" strike="noStrike" dirty="0">
                          <a:effectLst/>
                        </a:rPr>
                        <a:t> person singular)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Subject + Verb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701856"/>
                  </a:ext>
                </a:extLst>
              </a:tr>
              <a:tr h="8150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Present Perfect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Subject + has or have+ Verb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Subject + have + Verb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778397"/>
                  </a:ext>
                </a:extLst>
              </a:tr>
              <a:tr h="8150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Present Continuous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Subject + is/am/are + </a:t>
                      </a:r>
                      <a:r>
                        <a:rPr lang="en-US" sz="2000" u="none" strike="noStrike" dirty="0" err="1">
                          <a:effectLst/>
                        </a:rPr>
                        <a:t>Verb+ing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4455516"/>
                  </a:ext>
                </a:extLst>
              </a:tr>
              <a:tr h="8150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Present Perfect Continuous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Subject + has or have been + </a:t>
                      </a:r>
                      <a:r>
                        <a:rPr lang="en-US" sz="2000" u="none" strike="noStrike" dirty="0" err="1">
                          <a:effectLst/>
                        </a:rPr>
                        <a:t>Verb+ing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Subject + have been + </a:t>
                      </a:r>
                      <a:r>
                        <a:rPr lang="en-US" sz="2000" u="none" strike="noStrike" dirty="0" err="1">
                          <a:effectLst/>
                        </a:rPr>
                        <a:t>Verb+ing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5330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331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826FF39-DA37-873A-C6F4-1D0950D53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567349"/>
              </p:ext>
            </p:extLst>
          </p:nvPr>
        </p:nvGraphicFramePr>
        <p:xfrm>
          <a:off x="311426" y="691769"/>
          <a:ext cx="11569147" cy="532737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199">
                  <a:extLst>
                    <a:ext uri="{9D8B030D-6E8A-4147-A177-3AD203B41FA5}">
                      <a16:colId xmlns:a16="http://schemas.microsoft.com/office/drawing/2014/main" val="3040252042"/>
                    </a:ext>
                  </a:extLst>
                </a:gridCol>
                <a:gridCol w="2745812">
                  <a:extLst>
                    <a:ext uri="{9D8B030D-6E8A-4147-A177-3AD203B41FA5}">
                      <a16:colId xmlns:a16="http://schemas.microsoft.com/office/drawing/2014/main" val="3312229769"/>
                    </a:ext>
                  </a:extLst>
                </a:gridCol>
                <a:gridCol w="3159287">
                  <a:extLst>
                    <a:ext uri="{9D8B030D-6E8A-4147-A177-3AD203B41FA5}">
                      <a16:colId xmlns:a16="http://schemas.microsoft.com/office/drawing/2014/main" val="3802754979"/>
                    </a:ext>
                  </a:extLst>
                </a:gridCol>
                <a:gridCol w="2920849">
                  <a:extLst>
                    <a:ext uri="{9D8B030D-6E8A-4147-A177-3AD203B41FA5}">
                      <a16:colId xmlns:a16="http://schemas.microsoft.com/office/drawing/2014/main" val="318065432"/>
                    </a:ext>
                  </a:extLst>
                </a:gridCol>
              </a:tblGrid>
              <a:tr h="4994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TENSES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AFFIRMATIVE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NEGATIVE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INTERROGATIVE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0217853"/>
                  </a:ext>
                </a:extLst>
              </a:tr>
              <a:tr h="12069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Present Simple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I have a car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I don’t have a car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Do I have a car?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878487"/>
                  </a:ext>
                </a:extLst>
              </a:tr>
              <a:tr h="12069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Present Perfect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I have seen that movie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I haven’t seen that movie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Have I seen that movie?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1202244"/>
                  </a:ext>
                </a:extLst>
              </a:tr>
              <a:tr h="12069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Present Continuous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You are playing football now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You are not playing football now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Are you playing football now?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121259"/>
                  </a:ext>
                </a:extLst>
              </a:tr>
              <a:tr h="12069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Present Perfect Continuous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They have been living here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They haven’t been living here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Have they been living here?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344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4096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1301-9CB2-3DA6-AB25-DB1516E234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9600" b="1" dirty="0"/>
              <a:t>Future Tense</a:t>
            </a:r>
            <a:endParaRPr lang="en-IN" sz="9600" b="1" dirty="0"/>
          </a:p>
        </p:txBody>
      </p:sp>
    </p:spTree>
    <p:extLst>
      <p:ext uri="{BB962C8B-B14F-4D97-AF65-F5344CB8AC3E}">
        <p14:creationId xmlns:p14="http://schemas.microsoft.com/office/powerpoint/2010/main" val="953625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E964B2-25EE-0B1F-68CF-8FEE7BF01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620543"/>
              </p:ext>
            </p:extLst>
          </p:nvPr>
        </p:nvGraphicFramePr>
        <p:xfrm>
          <a:off x="1085088" y="1106424"/>
          <a:ext cx="10021824" cy="464515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94986">
                  <a:extLst>
                    <a:ext uri="{9D8B030D-6E8A-4147-A177-3AD203B41FA5}">
                      <a16:colId xmlns:a16="http://schemas.microsoft.com/office/drawing/2014/main" val="3417683473"/>
                    </a:ext>
                  </a:extLst>
                </a:gridCol>
                <a:gridCol w="4253266">
                  <a:extLst>
                    <a:ext uri="{9D8B030D-6E8A-4147-A177-3AD203B41FA5}">
                      <a16:colId xmlns:a16="http://schemas.microsoft.com/office/drawing/2014/main" val="2779393638"/>
                    </a:ext>
                  </a:extLst>
                </a:gridCol>
                <a:gridCol w="3873572">
                  <a:extLst>
                    <a:ext uri="{9D8B030D-6E8A-4147-A177-3AD203B41FA5}">
                      <a16:colId xmlns:a16="http://schemas.microsoft.com/office/drawing/2014/main" val="280416054"/>
                    </a:ext>
                  </a:extLst>
                </a:gridCol>
              </a:tblGrid>
              <a:tr h="7726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SUBJECT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SINGULAR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PLURAL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709004"/>
                  </a:ext>
                </a:extLst>
              </a:tr>
              <a:tr h="12908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1st Person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I</a:t>
                      </a:r>
                      <a:r>
                        <a:rPr lang="en-US" sz="2400" u="none" strike="noStrike" dirty="0">
                          <a:effectLst/>
                        </a:rPr>
                        <a:t> write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We</a:t>
                      </a:r>
                      <a:r>
                        <a:rPr lang="en-US" sz="2400" u="none" strike="noStrike" dirty="0">
                          <a:effectLst/>
                        </a:rPr>
                        <a:t> write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319672"/>
                  </a:ext>
                </a:extLst>
              </a:tr>
              <a:tr h="12908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2nd Person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You </a:t>
                      </a:r>
                      <a:r>
                        <a:rPr lang="en-US" sz="2400" u="none" strike="noStrike" dirty="0">
                          <a:effectLst/>
                        </a:rPr>
                        <a:t>write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You</a:t>
                      </a:r>
                      <a:r>
                        <a:rPr lang="en-US" sz="2400" u="none" strike="noStrike" dirty="0">
                          <a:effectLst/>
                        </a:rPr>
                        <a:t> write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0393507"/>
                  </a:ext>
                </a:extLst>
              </a:tr>
              <a:tr h="12908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3rd Person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He/She/It </a:t>
                      </a:r>
                      <a:r>
                        <a:rPr lang="en-US" sz="2400" u="none" strike="noStrike" dirty="0">
                          <a:effectLst/>
                        </a:rPr>
                        <a:t>writes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They</a:t>
                      </a:r>
                      <a:r>
                        <a:rPr lang="en-US" sz="2400" u="none" strike="noStrike" dirty="0">
                          <a:effectLst/>
                        </a:rPr>
                        <a:t> write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8357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836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3A47D8-C63B-7613-D3E8-82FEBDC25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891666"/>
              </p:ext>
            </p:extLst>
          </p:nvPr>
        </p:nvGraphicFramePr>
        <p:xfrm>
          <a:off x="291549" y="847217"/>
          <a:ext cx="11608902" cy="499607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3140765">
                  <a:extLst>
                    <a:ext uri="{9D8B030D-6E8A-4147-A177-3AD203B41FA5}">
                      <a16:colId xmlns:a16="http://schemas.microsoft.com/office/drawing/2014/main" val="3381992118"/>
                    </a:ext>
                  </a:extLst>
                </a:gridCol>
                <a:gridCol w="4664765">
                  <a:extLst>
                    <a:ext uri="{9D8B030D-6E8A-4147-A177-3AD203B41FA5}">
                      <a16:colId xmlns:a16="http://schemas.microsoft.com/office/drawing/2014/main" val="1479986643"/>
                    </a:ext>
                  </a:extLst>
                </a:gridCol>
                <a:gridCol w="3803372">
                  <a:extLst>
                    <a:ext uri="{9D8B030D-6E8A-4147-A177-3AD203B41FA5}">
                      <a16:colId xmlns:a16="http://schemas.microsoft.com/office/drawing/2014/main" val="3311661723"/>
                    </a:ext>
                  </a:extLst>
                </a:gridCol>
              </a:tblGrid>
              <a:tr h="5387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TENSES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APPLICATION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EXAMPLE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714716"/>
                  </a:ext>
                </a:extLst>
              </a:tr>
              <a:tr h="11143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Future Simple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 or event that will happen in the future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 will play tennis tomorrow evening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6360124"/>
                  </a:ext>
                </a:extLst>
              </a:tr>
              <a:tr h="11143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Future Perfect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 that will have been completed at some point in the future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 September, Jenny will have taken over that role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900032"/>
                  </a:ext>
                </a:extLst>
              </a:tr>
              <a:tr h="11143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Future Continuous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 that will be ongoing in the future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Katherine will be coming home for holidays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988732"/>
                  </a:ext>
                </a:extLst>
              </a:tr>
              <a:tr h="11143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Future Perfect Continuous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 that is currently unfinished but will be finished at some future time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 will have been waiting here for 3 hours by six o’clock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2138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0744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48A818-D45D-45EF-3985-4108F45F8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030661"/>
              </p:ext>
            </p:extLst>
          </p:nvPr>
        </p:nvGraphicFramePr>
        <p:xfrm>
          <a:off x="490330" y="1258697"/>
          <a:ext cx="11211339" cy="4157915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3227085">
                  <a:extLst>
                    <a:ext uri="{9D8B030D-6E8A-4147-A177-3AD203B41FA5}">
                      <a16:colId xmlns:a16="http://schemas.microsoft.com/office/drawing/2014/main" val="2226843986"/>
                    </a:ext>
                  </a:extLst>
                </a:gridCol>
                <a:gridCol w="7984254">
                  <a:extLst>
                    <a:ext uri="{9D8B030D-6E8A-4147-A177-3AD203B41FA5}">
                      <a16:colId xmlns:a16="http://schemas.microsoft.com/office/drawing/2014/main" val="1525236928"/>
                    </a:ext>
                  </a:extLst>
                </a:gridCol>
              </a:tblGrid>
              <a:tr h="8878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TENSES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RULES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055580"/>
                  </a:ext>
                </a:extLst>
              </a:tr>
              <a:tr h="8175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Future Simple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Subject + will/shall + Verb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376110"/>
                  </a:ext>
                </a:extLst>
              </a:tr>
              <a:tr h="8175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Future Perfect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Subject + will/shall + have + Verb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72696"/>
                  </a:ext>
                </a:extLst>
              </a:tr>
              <a:tr h="8175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Future Continuous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Subject + will/shall + be +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Verb+ing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576063"/>
                  </a:ext>
                </a:extLst>
              </a:tr>
              <a:tr h="8175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Future Perfect Continuous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Subject + will + have been +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Verb+ing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740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3087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1B9D3D-9F0E-D32D-1457-72247EEF3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691138"/>
              </p:ext>
            </p:extLst>
          </p:nvPr>
        </p:nvGraphicFramePr>
        <p:xfrm>
          <a:off x="311426" y="691769"/>
          <a:ext cx="11569147" cy="532737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199">
                  <a:extLst>
                    <a:ext uri="{9D8B030D-6E8A-4147-A177-3AD203B41FA5}">
                      <a16:colId xmlns:a16="http://schemas.microsoft.com/office/drawing/2014/main" val="2633002557"/>
                    </a:ext>
                  </a:extLst>
                </a:gridCol>
                <a:gridCol w="2745812">
                  <a:extLst>
                    <a:ext uri="{9D8B030D-6E8A-4147-A177-3AD203B41FA5}">
                      <a16:colId xmlns:a16="http://schemas.microsoft.com/office/drawing/2014/main" val="733426953"/>
                    </a:ext>
                  </a:extLst>
                </a:gridCol>
                <a:gridCol w="3159287">
                  <a:extLst>
                    <a:ext uri="{9D8B030D-6E8A-4147-A177-3AD203B41FA5}">
                      <a16:colId xmlns:a16="http://schemas.microsoft.com/office/drawing/2014/main" val="4118580337"/>
                    </a:ext>
                  </a:extLst>
                </a:gridCol>
                <a:gridCol w="2920849">
                  <a:extLst>
                    <a:ext uri="{9D8B030D-6E8A-4147-A177-3AD203B41FA5}">
                      <a16:colId xmlns:a16="http://schemas.microsoft.com/office/drawing/2014/main" val="434615706"/>
                    </a:ext>
                  </a:extLst>
                </a:gridCol>
              </a:tblGrid>
              <a:tr h="4994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TENSES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AFFIRMATIVE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NEGATIVE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INTERROGATIVE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9764374"/>
                  </a:ext>
                </a:extLst>
              </a:tr>
              <a:tr h="12069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Future Simple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 will come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 will not come</a:t>
                      </a:r>
                    </a:p>
                  </a:txBody>
                  <a:tcPr marL="142875" marR="142875" marT="66675" marB="66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Will I come?</a:t>
                      </a:r>
                    </a:p>
                  </a:txBody>
                  <a:tcPr marL="142875" marR="142875" marT="66675" marB="66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1576316"/>
                  </a:ext>
                </a:extLst>
              </a:tr>
              <a:tr h="12069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Future Perfect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 will have finished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 will not have finished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Will he have finished?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507018"/>
                  </a:ext>
                </a:extLst>
              </a:tr>
              <a:tr h="12069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Future Continuous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 will be playing basketball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 won’t be playing basketball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Will I be playing basketball?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6158986"/>
                  </a:ext>
                </a:extLst>
              </a:tr>
              <a:tr h="12069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Future Perfect Continuous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 will have been starting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 will not have been starting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Will we have been starting?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9722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8629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003CE-C793-FBBA-8C4D-98CA97620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576" y="1396683"/>
            <a:ext cx="10119360" cy="2387600"/>
          </a:xfrm>
        </p:spPr>
        <p:txBody>
          <a:bodyPr>
            <a:noAutofit/>
          </a:bodyPr>
          <a:lstStyle/>
          <a:p>
            <a:r>
              <a:rPr lang="en-US" sz="8000" b="1" dirty="0"/>
              <a:t>Subject Verb Agreement</a:t>
            </a:r>
            <a:endParaRPr lang="en-IN" sz="8000" b="1" dirty="0"/>
          </a:p>
        </p:txBody>
      </p:sp>
    </p:spTree>
    <p:extLst>
      <p:ext uri="{BB962C8B-B14F-4D97-AF65-F5344CB8AC3E}">
        <p14:creationId xmlns:p14="http://schemas.microsoft.com/office/powerpoint/2010/main" val="2864617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4ED8-22AE-B6E5-CC4C-C7D26A014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" y="90805"/>
            <a:ext cx="10515600" cy="1325563"/>
          </a:xfrm>
        </p:spPr>
        <p:txBody>
          <a:bodyPr/>
          <a:lstStyle/>
          <a:p>
            <a:r>
              <a:rPr lang="en-US" b="1" dirty="0"/>
              <a:t>Rules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C4ABF-D85F-D18B-42A1-E39812E99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" y="1416368"/>
            <a:ext cx="11914632" cy="4874387"/>
          </a:xfrm>
        </p:spPr>
        <p:txBody>
          <a:bodyPr>
            <a:noAutofit/>
          </a:bodyPr>
          <a:lstStyle/>
          <a:p>
            <a:r>
              <a:rPr lang="en-US" sz="2200" dirty="0">
                <a:effectLst/>
                <a:highlight>
                  <a:srgbClr val="FFFFFF"/>
                </a:highlight>
              </a:rPr>
              <a:t>A </a:t>
            </a:r>
            <a:r>
              <a:rPr lang="en-US" sz="2200" b="1" dirty="0">
                <a:effectLst/>
                <a:highlight>
                  <a:srgbClr val="FFFFFF"/>
                </a:highlight>
              </a:rPr>
              <a:t>singular subject</a:t>
            </a:r>
            <a:r>
              <a:rPr lang="en-US" sz="2200" dirty="0">
                <a:effectLst/>
                <a:highlight>
                  <a:srgbClr val="FFFFFF"/>
                </a:highlight>
              </a:rPr>
              <a:t> takes a </a:t>
            </a:r>
            <a:r>
              <a:rPr lang="en-US" sz="2200" b="1" dirty="0">
                <a:effectLst/>
                <a:highlight>
                  <a:srgbClr val="FFFFFF"/>
                </a:highlight>
              </a:rPr>
              <a:t>singular verb</a:t>
            </a:r>
            <a:r>
              <a:rPr lang="en-US" sz="2200" dirty="0">
                <a:effectLst/>
                <a:highlight>
                  <a:srgbClr val="FFFFFF"/>
                </a:highlight>
              </a:rPr>
              <a:t> whereas a </a:t>
            </a:r>
            <a:r>
              <a:rPr lang="en-US" sz="2200" b="1" dirty="0">
                <a:effectLst/>
                <a:highlight>
                  <a:srgbClr val="FFFFFF"/>
                </a:highlight>
              </a:rPr>
              <a:t>plural subject</a:t>
            </a:r>
            <a:r>
              <a:rPr lang="en-US" sz="2200" dirty="0">
                <a:effectLst/>
                <a:highlight>
                  <a:srgbClr val="FFFFFF"/>
                </a:highlight>
              </a:rPr>
              <a:t> takes a </a:t>
            </a:r>
            <a:r>
              <a:rPr lang="en-US" sz="2200" b="1" dirty="0">
                <a:effectLst/>
                <a:highlight>
                  <a:srgbClr val="FFFFFF"/>
                </a:highlight>
              </a:rPr>
              <a:t>plural verb</a:t>
            </a:r>
            <a:r>
              <a:rPr lang="en-US" sz="2200" dirty="0">
                <a:effectLst/>
                <a:highlight>
                  <a:srgbClr val="FFFFFF"/>
                </a:highlight>
              </a:rPr>
              <a:t>.</a:t>
            </a:r>
          </a:p>
          <a:p>
            <a:pPr marL="0" indent="0">
              <a:buNone/>
            </a:pPr>
            <a:r>
              <a:rPr lang="en-US" sz="2200" dirty="0">
                <a:highlight>
                  <a:srgbClr val="FFFFFF"/>
                </a:highlight>
              </a:rPr>
              <a:t>	</a:t>
            </a:r>
            <a:r>
              <a:rPr lang="en-US" sz="2200" b="1" i="1" dirty="0">
                <a:highlight>
                  <a:srgbClr val="FFFFFF"/>
                </a:highlight>
              </a:rPr>
              <a:t>Eg:</a:t>
            </a:r>
            <a:r>
              <a:rPr lang="en-US" sz="2200" i="1" dirty="0">
                <a:highlight>
                  <a:srgbClr val="FFFFFF"/>
                </a:highlight>
              </a:rPr>
              <a:t> </a:t>
            </a:r>
            <a:r>
              <a:rPr lang="en-US" sz="2200" i="1" u="sng" dirty="0">
                <a:highlight>
                  <a:srgbClr val="FFFFFF"/>
                </a:highlight>
              </a:rPr>
              <a:t>One</a:t>
            </a:r>
            <a:r>
              <a:rPr lang="en-US" sz="2200" i="1" dirty="0">
                <a:highlight>
                  <a:srgbClr val="FFFFFF"/>
                </a:highlight>
              </a:rPr>
              <a:t> dog </a:t>
            </a:r>
            <a:r>
              <a:rPr lang="en-US" sz="2200" i="1" u="sng" dirty="0">
                <a:highlight>
                  <a:srgbClr val="FFFFFF"/>
                </a:highlight>
              </a:rPr>
              <a:t>is</a:t>
            </a:r>
            <a:r>
              <a:rPr lang="en-US" sz="2200" i="1" dirty="0">
                <a:highlight>
                  <a:srgbClr val="FFFFFF"/>
                </a:highlight>
              </a:rPr>
              <a:t> sitting on the grass.</a:t>
            </a:r>
          </a:p>
          <a:p>
            <a:pPr marL="0" indent="0">
              <a:buNone/>
            </a:pPr>
            <a:r>
              <a:rPr lang="en-US" sz="2200" i="1" dirty="0">
                <a:highlight>
                  <a:srgbClr val="FFFFFF"/>
                </a:highlight>
              </a:rPr>
              <a:t>      	      </a:t>
            </a:r>
            <a:r>
              <a:rPr lang="en-US" sz="2200" i="1" u="sng" dirty="0">
                <a:effectLst/>
                <a:highlight>
                  <a:srgbClr val="FFFFFF"/>
                </a:highlight>
              </a:rPr>
              <a:t>Two</a:t>
            </a:r>
            <a:r>
              <a:rPr lang="en-US" sz="2200" i="1" dirty="0">
                <a:effectLst/>
                <a:highlight>
                  <a:srgbClr val="FFFFFF"/>
                </a:highlight>
              </a:rPr>
              <a:t> dogs </a:t>
            </a:r>
            <a:r>
              <a:rPr lang="en-US" sz="2200" i="1" u="sng" dirty="0">
                <a:effectLst/>
                <a:highlight>
                  <a:srgbClr val="FFFFFF"/>
                </a:highlight>
              </a:rPr>
              <a:t>are</a:t>
            </a:r>
            <a:r>
              <a:rPr lang="en-US" sz="2200" i="1" dirty="0">
                <a:effectLst/>
                <a:highlight>
                  <a:srgbClr val="FFFFFF"/>
                </a:highlight>
              </a:rPr>
              <a:t> sitting on the grass.</a:t>
            </a:r>
          </a:p>
          <a:p>
            <a:pPr marL="0" indent="0">
              <a:buNone/>
            </a:pPr>
            <a:endParaRPr lang="en-US" sz="2200" i="1" dirty="0">
              <a:effectLst/>
              <a:highlight>
                <a:srgbClr val="FFFFFF"/>
              </a:highlight>
            </a:endParaRPr>
          </a:p>
          <a:p>
            <a:pPr algn="just"/>
            <a:r>
              <a:rPr lang="en-US" sz="2200" b="1" dirty="0">
                <a:effectLst/>
                <a:highlight>
                  <a:srgbClr val="FFFFFF"/>
                </a:highlight>
              </a:rPr>
              <a:t>Two singular subjects</a:t>
            </a:r>
            <a:r>
              <a:rPr lang="en-US" sz="2200" dirty="0">
                <a:effectLst/>
                <a:highlight>
                  <a:srgbClr val="FFFFFF"/>
                </a:highlight>
              </a:rPr>
              <a:t> connected by </a:t>
            </a:r>
            <a:r>
              <a:rPr lang="en-US" sz="2200" b="1" dirty="0">
                <a:effectLst/>
                <a:highlight>
                  <a:srgbClr val="FFFFFF"/>
                </a:highlight>
              </a:rPr>
              <a:t>or, either/or, or neither/nor</a:t>
            </a:r>
            <a:r>
              <a:rPr lang="en-US" sz="2200" dirty="0">
                <a:effectLst/>
                <a:highlight>
                  <a:srgbClr val="FFFFFF"/>
                </a:highlight>
              </a:rPr>
              <a:t> and sometimes</a:t>
            </a:r>
            <a:r>
              <a:rPr lang="en-US" sz="2200" b="0" i="0" dirty="0">
                <a:effectLst/>
                <a:highlight>
                  <a:srgbClr val="FFFFFF"/>
                </a:highlight>
              </a:rPr>
              <a:t> the subject is separated from the verb by such words as </a:t>
            </a:r>
            <a:r>
              <a:rPr lang="en-US" sz="2200" b="1" i="1" dirty="0">
                <a:effectLst/>
                <a:highlight>
                  <a:srgbClr val="FFFFFF"/>
                </a:highlight>
              </a:rPr>
              <a:t>along with, as well as, besides </a:t>
            </a:r>
            <a:r>
              <a:rPr lang="en-US" sz="2200" b="0" i="0" dirty="0">
                <a:effectLst/>
                <a:highlight>
                  <a:srgbClr val="FFFFFF"/>
                </a:highlight>
              </a:rPr>
              <a:t>etc.</a:t>
            </a:r>
            <a:r>
              <a:rPr lang="en-US" sz="2200" dirty="0">
                <a:effectLst/>
                <a:highlight>
                  <a:srgbClr val="FFFFFF"/>
                </a:highlight>
              </a:rPr>
              <a:t> </a:t>
            </a:r>
            <a:r>
              <a:rPr lang="en-US" sz="2200" dirty="0">
                <a:highlight>
                  <a:srgbClr val="FFFFFF"/>
                </a:highlight>
              </a:rPr>
              <a:t>takes</a:t>
            </a:r>
            <a:r>
              <a:rPr lang="en-US" sz="2200" dirty="0">
                <a:effectLst/>
                <a:highlight>
                  <a:srgbClr val="FFFFFF"/>
                </a:highlight>
              </a:rPr>
              <a:t> a </a:t>
            </a:r>
            <a:r>
              <a:rPr lang="en-US" sz="2200" b="1" dirty="0">
                <a:effectLst/>
                <a:highlight>
                  <a:srgbClr val="FFFFFF"/>
                </a:highlight>
              </a:rPr>
              <a:t>singular verb</a:t>
            </a:r>
            <a:r>
              <a:rPr lang="en-US" sz="2200" dirty="0">
                <a:effectLst/>
                <a:highlight>
                  <a:srgbClr val="FFFFFF"/>
                </a:highlight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effectLst/>
                <a:highlight>
                  <a:srgbClr val="FFFFFF"/>
                </a:highlight>
              </a:rPr>
              <a:t>	</a:t>
            </a:r>
            <a:r>
              <a:rPr lang="en-US" sz="2200" b="1" i="1" dirty="0">
                <a:effectLst/>
                <a:highlight>
                  <a:srgbClr val="FFFFFF"/>
                </a:highlight>
              </a:rPr>
              <a:t>Eg:</a:t>
            </a:r>
            <a:r>
              <a:rPr lang="en-US" sz="2200" dirty="0">
                <a:effectLst/>
                <a:highlight>
                  <a:srgbClr val="FFFFFF"/>
                </a:highlight>
              </a:rPr>
              <a:t> </a:t>
            </a:r>
            <a:r>
              <a:rPr lang="en-US" sz="2200" i="1" dirty="0">
                <a:effectLst/>
                <a:highlight>
                  <a:srgbClr val="FFFFFF"/>
                </a:highlight>
              </a:rPr>
              <a:t>My </a:t>
            </a:r>
            <a:r>
              <a:rPr lang="en-US" sz="2200" i="1" u="sng" dirty="0">
                <a:effectLst/>
                <a:highlight>
                  <a:srgbClr val="FFFFFF"/>
                </a:highlight>
              </a:rPr>
              <a:t>aunt</a:t>
            </a:r>
            <a:r>
              <a:rPr lang="en-US" sz="2200" i="1" dirty="0">
                <a:effectLst/>
                <a:highlight>
                  <a:srgbClr val="FFFFFF"/>
                </a:highlight>
              </a:rPr>
              <a:t> or my </a:t>
            </a:r>
            <a:r>
              <a:rPr lang="en-US" sz="2200" i="1" u="sng" dirty="0">
                <a:effectLst/>
                <a:highlight>
                  <a:srgbClr val="FFFFFF"/>
                </a:highlight>
              </a:rPr>
              <a:t>uncle</a:t>
            </a:r>
            <a:r>
              <a:rPr lang="en-US" sz="2200" i="1" dirty="0">
                <a:effectLst/>
                <a:highlight>
                  <a:srgbClr val="FFFFFF"/>
                </a:highlight>
              </a:rPr>
              <a:t> </a:t>
            </a:r>
            <a:r>
              <a:rPr lang="en-US" sz="2200" i="1" u="sng" dirty="0">
                <a:effectLst/>
                <a:highlight>
                  <a:srgbClr val="FFFFFF"/>
                </a:highlight>
              </a:rPr>
              <a:t>is arriving</a:t>
            </a:r>
            <a:r>
              <a:rPr lang="en-US" sz="2200" i="1" dirty="0">
                <a:effectLst/>
                <a:highlight>
                  <a:srgbClr val="FFFFFF"/>
                </a:highlight>
              </a:rPr>
              <a:t> by train today.</a:t>
            </a:r>
            <a:br>
              <a:rPr lang="en-US" sz="2200" i="1" dirty="0"/>
            </a:br>
            <a:r>
              <a:rPr lang="en-US" sz="2200" i="1" dirty="0"/>
              <a:t>	      </a:t>
            </a:r>
            <a:r>
              <a:rPr lang="en-US" sz="2200" i="1" dirty="0">
                <a:effectLst/>
                <a:highlight>
                  <a:srgbClr val="FFFFFF"/>
                </a:highlight>
              </a:rPr>
              <a:t>Neither </a:t>
            </a:r>
            <a:r>
              <a:rPr lang="en-US" sz="2200" i="1" u="sng" dirty="0">
                <a:effectLst/>
                <a:highlight>
                  <a:srgbClr val="FFFFFF"/>
                </a:highlight>
              </a:rPr>
              <a:t>Juan</a:t>
            </a:r>
            <a:r>
              <a:rPr lang="en-US" sz="2200" i="1" dirty="0">
                <a:effectLst/>
                <a:highlight>
                  <a:srgbClr val="FFFFFF"/>
                </a:highlight>
              </a:rPr>
              <a:t> nor </a:t>
            </a:r>
            <a:r>
              <a:rPr lang="en-US" sz="2200" i="1" u="sng" dirty="0">
                <a:effectLst/>
                <a:highlight>
                  <a:srgbClr val="FFFFFF"/>
                </a:highlight>
              </a:rPr>
              <a:t>Carmen</a:t>
            </a:r>
            <a:r>
              <a:rPr lang="en-US" sz="2200" i="1" dirty="0">
                <a:effectLst/>
                <a:highlight>
                  <a:srgbClr val="FFFFFF"/>
                </a:highlight>
              </a:rPr>
              <a:t> </a:t>
            </a:r>
            <a:r>
              <a:rPr lang="en-US" sz="2200" i="1" u="sng" dirty="0">
                <a:effectLst/>
                <a:highlight>
                  <a:srgbClr val="FFFFFF"/>
                </a:highlight>
              </a:rPr>
              <a:t>is</a:t>
            </a:r>
            <a:r>
              <a:rPr lang="en-US" sz="2200" i="1" dirty="0">
                <a:effectLst/>
                <a:highlight>
                  <a:srgbClr val="FFFFFF"/>
                </a:highlight>
              </a:rPr>
              <a:t> available.</a:t>
            </a:r>
            <a:br>
              <a:rPr lang="en-US" sz="2200" i="1" dirty="0"/>
            </a:br>
            <a:r>
              <a:rPr lang="en-US" sz="2200" i="1" dirty="0"/>
              <a:t>                    </a:t>
            </a:r>
            <a:r>
              <a:rPr lang="en-US" sz="2200" i="1" dirty="0">
                <a:effectLst/>
                <a:highlight>
                  <a:srgbClr val="FFFFFF"/>
                </a:highlight>
              </a:rPr>
              <a:t>Either </a:t>
            </a:r>
            <a:r>
              <a:rPr lang="en-US" sz="2200" i="1" u="sng" dirty="0">
                <a:effectLst/>
                <a:highlight>
                  <a:srgbClr val="FFFFFF"/>
                </a:highlight>
              </a:rPr>
              <a:t>Kiana</a:t>
            </a:r>
            <a:r>
              <a:rPr lang="en-US" sz="2200" i="1" dirty="0">
                <a:effectLst/>
                <a:highlight>
                  <a:srgbClr val="FFFFFF"/>
                </a:highlight>
              </a:rPr>
              <a:t> or </a:t>
            </a:r>
            <a:r>
              <a:rPr lang="en-US" sz="2200" i="1" u="sng" dirty="0">
                <a:effectLst/>
                <a:highlight>
                  <a:srgbClr val="FFFFFF"/>
                </a:highlight>
              </a:rPr>
              <a:t>Casey</a:t>
            </a:r>
            <a:r>
              <a:rPr lang="en-US" sz="2200" i="1" dirty="0">
                <a:effectLst/>
                <a:highlight>
                  <a:srgbClr val="FFFFFF"/>
                </a:highlight>
              </a:rPr>
              <a:t> </a:t>
            </a:r>
            <a:r>
              <a:rPr lang="en-US" sz="2200" i="1" u="sng" dirty="0">
                <a:effectLst/>
                <a:highlight>
                  <a:srgbClr val="FFFFFF"/>
                </a:highlight>
              </a:rPr>
              <a:t>is helping</a:t>
            </a:r>
            <a:r>
              <a:rPr lang="en-US" sz="2200" i="1" dirty="0">
                <a:effectLst/>
                <a:highlight>
                  <a:srgbClr val="FFFFFF"/>
                </a:highlight>
              </a:rPr>
              <a:t> today with stage decorations.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b="0" i="1" dirty="0">
                <a:highlight>
                  <a:srgbClr val="FFFFFF"/>
                </a:highlight>
              </a:rPr>
              <a:t>	</a:t>
            </a:r>
            <a:r>
              <a:rPr lang="en-US" sz="2200" i="1" dirty="0">
                <a:highlight>
                  <a:srgbClr val="FFFFFF"/>
                </a:highlight>
              </a:rPr>
              <a:t>     </a:t>
            </a:r>
            <a:r>
              <a:rPr lang="en-US" sz="2200" b="0" i="1" dirty="0">
                <a:effectLst/>
                <a:highlight>
                  <a:srgbClr val="FFFFFF"/>
                </a:highlight>
              </a:rPr>
              <a:t>The </a:t>
            </a:r>
            <a:r>
              <a:rPr lang="en-US" sz="2200" b="0" i="1" u="sng" dirty="0">
                <a:effectLst/>
                <a:highlight>
                  <a:srgbClr val="FFFFFF"/>
                </a:highlight>
              </a:rPr>
              <a:t>politician</a:t>
            </a:r>
            <a:r>
              <a:rPr lang="en-US" sz="2200" b="0" i="1" dirty="0">
                <a:effectLst/>
                <a:highlight>
                  <a:srgbClr val="FFFFFF"/>
                </a:highlight>
              </a:rPr>
              <a:t>, along with the newsmen, </a:t>
            </a:r>
            <a:r>
              <a:rPr lang="en-US" sz="2200" b="0" i="1" u="sng" dirty="0">
                <a:effectLst/>
                <a:highlight>
                  <a:srgbClr val="FFFFFF"/>
                </a:highlight>
              </a:rPr>
              <a:t>is expected</a:t>
            </a:r>
            <a:r>
              <a:rPr lang="en-US" sz="2200" b="0" i="1" dirty="0">
                <a:effectLst/>
                <a:highlight>
                  <a:srgbClr val="FFFFFF"/>
                </a:highlight>
              </a:rPr>
              <a:t> shortly.</a:t>
            </a:r>
            <a:br>
              <a:rPr lang="en-US" sz="2200" b="0" i="1" dirty="0">
                <a:effectLst/>
                <a:highlight>
                  <a:srgbClr val="FFFFFF"/>
                </a:highlight>
              </a:rPr>
            </a:br>
            <a:r>
              <a:rPr lang="en-US" sz="2200" b="0" i="1" dirty="0">
                <a:effectLst/>
                <a:highlight>
                  <a:srgbClr val="FFFFFF"/>
                </a:highlight>
              </a:rPr>
              <a:t>	     </a:t>
            </a:r>
            <a:r>
              <a:rPr lang="en-US" sz="2200" b="0" i="1" u="sng" dirty="0">
                <a:effectLst/>
                <a:highlight>
                  <a:srgbClr val="FFFFFF"/>
                </a:highlight>
              </a:rPr>
              <a:t>Excitement</a:t>
            </a:r>
            <a:r>
              <a:rPr lang="en-US" sz="2200" b="0" i="1" dirty="0">
                <a:effectLst/>
                <a:highlight>
                  <a:srgbClr val="FFFFFF"/>
                </a:highlight>
              </a:rPr>
              <a:t>, as well as nervousness, </a:t>
            </a:r>
            <a:r>
              <a:rPr lang="en-US" sz="2200" b="0" i="1" u="sng" dirty="0">
                <a:effectLst/>
                <a:highlight>
                  <a:srgbClr val="FFFFFF"/>
                </a:highlight>
              </a:rPr>
              <a:t>is</a:t>
            </a:r>
            <a:r>
              <a:rPr lang="en-US" sz="2200" b="0" i="1" dirty="0">
                <a:effectLst/>
                <a:highlight>
                  <a:srgbClr val="FFFFFF"/>
                </a:highlight>
              </a:rPr>
              <a:t> the cause of her shaking.</a:t>
            </a:r>
          </a:p>
          <a:p>
            <a:pPr marL="0" indent="0">
              <a:buNone/>
            </a:pPr>
            <a:endParaRPr lang="en-US" sz="2200" i="1" dirty="0">
              <a:effectLst/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US" sz="2200" i="1" dirty="0">
              <a:effectLst/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US" sz="2200" i="1" dirty="0">
              <a:effectLst/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US" sz="2200" i="1" dirty="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4287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B4A8-E410-44FB-E6F5-F4A727A15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992" y="109093"/>
            <a:ext cx="10515600" cy="1325563"/>
          </a:xfrm>
        </p:spPr>
        <p:txBody>
          <a:bodyPr/>
          <a:lstStyle/>
          <a:p>
            <a:r>
              <a:rPr lang="en-US" b="1" dirty="0"/>
              <a:t>Rules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F83CE-18D8-0C45-2007-F03390C68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684" y="1115567"/>
            <a:ext cx="11914632" cy="5633339"/>
          </a:xfrm>
        </p:spPr>
        <p:txBody>
          <a:bodyPr>
            <a:normAutofit/>
          </a:bodyPr>
          <a:lstStyle/>
          <a:p>
            <a:r>
              <a:rPr lang="en-US" sz="2200" b="0" i="0" dirty="0">
                <a:effectLst/>
                <a:highlight>
                  <a:srgbClr val="FFFFFF"/>
                </a:highlight>
              </a:rPr>
              <a:t>Use a </a:t>
            </a:r>
            <a:r>
              <a:rPr lang="en-US" sz="2200" b="1" i="0" dirty="0">
                <a:effectLst/>
                <a:highlight>
                  <a:srgbClr val="FFFFFF"/>
                </a:highlight>
              </a:rPr>
              <a:t>singular verb</a:t>
            </a:r>
            <a:r>
              <a:rPr lang="en-US" sz="2200" b="0" i="0" dirty="0">
                <a:effectLst/>
                <a:highlight>
                  <a:srgbClr val="FFFFFF"/>
                </a:highlight>
              </a:rPr>
              <a:t> with </a:t>
            </a:r>
            <a:r>
              <a:rPr lang="en-US" sz="2200" b="1" i="0" dirty="0">
                <a:effectLst/>
                <a:highlight>
                  <a:srgbClr val="FFFFFF"/>
                </a:highlight>
              </a:rPr>
              <a:t>distances, periods of time, sums of money</a:t>
            </a:r>
            <a:r>
              <a:rPr lang="en-US" sz="2200" b="0" i="0" dirty="0">
                <a:effectLst/>
                <a:highlight>
                  <a:srgbClr val="FFFFFF"/>
                </a:highlight>
              </a:rPr>
              <a:t>, etc., when considered as a unit.</a:t>
            </a:r>
          </a:p>
          <a:p>
            <a:pPr marL="0" indent="0">
              <a:buNone/>
            </a:pPr>
            <a:r>
              <a:rPr lang="en-US" sz="2200" b="0" i="1" dirty="0">
                <a:effectLst/>
                <a:highlight>
                  <a:srgbClr val="FFFFFF"/>
                </a:highlight>
              </a:rPr>
              <a:t>	</a:t>
            </a:r>
            <a:r>
              <a:rPr lang="en-US" sz="2200" b="1" i="1" dirty="0" err="1">
                <a:effectLst/>
                <a:highlight>
                  <a:srgbClr val="FFFFFF"/>
                </a:highlight>
              </a:rPr>
              <a:t>Eg</a:t>
            </a:r>
            <a:r>
              <a:rPr lang="en-US" sz="2200" b="1" i="1" dirty="0">
                <a:effectLst/>
                <a:highlight>
                  <a:srgbClr val="FFFFFF"/>
                </a:highlight>
              </a:rPr>
              <a:t>:</a:t>
            </a:r>
            <a:r>
              <a:rPr lang="en-US" sz="2200" b="0" i="1" dirty="0">
                <a:effectLst/>
                <a:highlight>
                  <a:srgbClr val="FFFFFF"/>
                </a:highlight>
              </a:rPr>
              <a:t> Three miles </a:t>
            </a:r>
            <a:r>
              <a:rPr lang="en-US" sz="2200" b="1" i="1" dirty="0">
                <a:effectLst/>
                <a:highlight>
                  <a:srgbClr val="FFFFFF"/>
                </a:highlight>
              </a:rPr>
              <a:t>is</a:t>
            </a:r>
            <a:r>
              <a:rPr lang="en-US" sz="2200" b="0" i="1" dirty="0">
                <a:effectLst/>
                <a:highlight>
                  <a:srgbClr val="FFFFFF"/>
                </a:highlight>
              </a:rPr>
              <a:t> too far to walk.</a:t>
            </a:r>
            <a:br>
              <a:rPr lang="en-US" sz="2200" b="0" i="1" dirty="0">
                <a:effectLst/>
                <a:highlight>
                  <a:srgbClr val="FFFFFF"/>
                </a:highlight>
              </a:rPr>
            </a:br>
            <a:r>
              <a:rPr lang="en-US" sz="2200" b="0" i="1" dirty="0">
                <a:effectLst/>
                <a:highlight>
                  <a:srgbClr val="FFFFFF"/>
                </a:highlight>
              </a:rPr>
              <a:t>	      Five years </a:t>
            </a:r>
            <a:r>
              <a:rPr lang="en-US" sz="2200" b="1" i="1" dirty="0">
                <a:effectLst/>
                <a:highlight>
                  <a:srgbClr val="FFFFFF"/>
                </a:highlight>
              </a:rPr>
              <a:t>is</a:t>
            </a:r>
            <a:r>
              <a:rPr lang="en-US" sz="2200" b="0" i="1" dirty="0">
                <a:effectLst/>
                <a:highlight>
                  <a:srgbClr val="FFFFFF"/>
                </a:highlight>
              </a:rPr>
              <a:t> the maximum sentence for that offense.</a:t>
            </a:r>
            <a:br>
              <a:rPr lang="en-US" sz="2200" b="0" i="1" dirty="0">
                <a:effectLst/>
                <a:highlight>
                  <a:srgbClr val="FFFFFF"/>
                </a:highlight>
              </a:rPr>
            </a:br>
            <a:r>
              <a:rPr lang="en-US" sz="2200" b="0" i="1" dirty="0">
                <a:effectLst/>
                <a:highlight>
                  <a:srgbClr val="FFFFFF"/>
                </a:highlight>
              </a:rPr>
              <a:t>                   Ten dollars </a:t>
            </a:r>
            <a:r>
              <a:rPr lang="en-US" sz="2200" b="1" i="1" dirty="0">
                <a:effectLst/>
                <a:highlight>
                  <a:srgbClr val="FFFFFF"/>
                </a:highlight>
              </a:rPr>
              <a:t>is</a:t>
            </a:r>
            <a:r>
              <a:rPr lang="en-US" sz="2200" b="0" i="1" dirty="0">
                <a:effectLst/>
                <a:highlight>
                  <a:srgbClr val="FFFFFF"/>
                </a:highlight>
              </a:rPr>
              <a:t> a high price to pay.</a:t>
            </a:r>
          </a:p>
          <a:p>
            <a:endParaRPr lang="en-US" sz="2200" dirty="0">
              <a:effectLst/>
              <a:highlight>
                <a:srgbClr val="FFFFFF"/>
              </a:highlight>
            </a:endParaRPr>
          </a:p>
          <a:p>
            <a:r>
              <a:rPr lang="en-US" sz="2200" dirty="0">
                <a:effectLst/>
                <a:highlight>
                  <a:srgbClr val="FFFFFF"/>
                </a:highlight>
              </a:rPr>
              <a:t>Use a </a:t>
            </a:r>
            <a:r>
              <a:rPr lang="en-US" sz="2200" b="1" dirty="0">
                <a:effectLst/>
                <a:highlight>
                  <a:srgbClr val="FFFFFF"/>
                </a:highlight>
              </a:rPr>
              <a:t>plural verb</a:t>
            </a:r>
            <a:r>
              <a:rPr lang="en-US" sz="2200" dirty="0">
                <a:effectLst/>
                <a:highlight>
                  <a:srgbClr val="FFFFFF"/>
                </a:highlight>
              </a:rPr>
              <a:t> with two or more subjects when they are connected by </a:t>
            </a:r>
            <a:r>
              <a:rPr lang="en-US" sz="2200" b="1" dirty="0">
                <a:effectLst/>
                <a:highlight>
                  <a:srgbClr val="FFFFFF"/>
                </a:highlight>
              </a:rPr>
              <a:t>and</a:t>
            </a:r>
            <a:r>
              <a:rPr lang="en-US" sz="2200" dirty="0">
                <a:effectLst/>
                <a:highlight>
                  <a:srgbClr val="FFFFFF"/>
                </a:highlight>
              </a:rPr>
              <a:t>.</a:t>
            </a:r>
          </a:p>
          <a:p>
            <a:pPr marL="0" indent="0">
              <a:buNone/>
            </a:pPr>
            <a:r>
              <a:rPr lang="en-US" sz="2200" dirty="0">
                <a:effectLst/>
                <a:highlight>
                  <a:srgbClr val="FFFFFF"/>
                </a:highlight>
              </a:rPr>
              <a:t>	</a:t>
            </a:r>
            <a:r>
              <a:rPr lang="en-US" sz="2200" b="1" i="1" dirty="0" err="1">
                <a:effectLst/>
                <a:highlight>
                  <a:srgbClr val="FFFFFF"/>
                </a:highlight>
              </a:rPr>
              <a:t>Eg</a:t>
            </a:r>
            <a:r>
              <a:rPr lang="en-US" sz="2200" b="1" i="1" dirty="0">
                <a:effectLst/>
                <a:highlight>
                  <a:srgbClr val="FFFFFF"/>
                </a:highlight>
              </a:rPr>
              <a:t>:</a:t>
            </a:r>
            <a:r>
              <a:rPr lang="en-US" sz="2200" i="1" dirty="0">
                <a:effectLst/>
                <a:highlight>
                  <a:srgbClr val="FFFFFF"/>
                </a:highlight>
              </a:rPr>
              <a:t> A </a:t>
            </a:r>
            <a:r>
              <a:rPr lang="en-US" sz="2200" i="1" u="sng" dirty="0">
                <a:effectLst/>
                <a:highlight>
                  <a:srgbClr val="FFFFFF"/>
                </a:highlight>
              </a:rPr>
              <a:t>car</a:t>
            </a:r>
            <a:r>
              <a:rPr lang="en-US" sz="2200" i="1" dirty="0">
                <a:effectLst/>
                <a:highlight>
                  <a:srgbClr val="FFFFFF"/>
                </a:highlight>
              </a:rPr>
              <a:t> and a </a:t>
            </a:r>
            <a:r>
              <a:rPr lang="en-US" sz="2200" i="1" u="sng" dirty="0">
                <a:effectLst/>
                <a:highlight>
                  <a:srgbClr val="FFFFFF"/>
                </a:highlight>
              </a:rPr>
              <a:t>bike</a:t>
            </a:r>
            <a:r>
              <a:rPr lang="en-US" sz="2200" i="1" dirty="0">
                <a:effectLst/>
                <a:highlight>
                  <a:srgbClr val="FFFFFF"/>
                </a:highlight>
              </a:rPr>
              <a:t> </a:t>
            </a:r>
            <a:r>
              <a:rPr lang="en-US" sz="2200" i="1" u="sng" dirty="0">
                <a:effectLst/>
                <a:highlight>
                  <a:srgbClr val="FFFFFF"/>
                </a:highlight>
              </a:rPr>
              <a:t>are</a:t>
            </a:r>
            <a:r>
              <a:rPr lang="en-US" sz="2200" i="1" dirty="0">
                <a:effectLst/>
                <a:highlight>
                  <a:srgbClr val="FFFFFF"/>
                </a:highlight>
              </a:rPr>
              <a:t> my means of transportation.</a:t>
            </a:r>
            <a:endParaRPr lang="en-US" sz="2200" i="1" dirty="0"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US" sz="2200" b="0" i="0" dirty="0">
              <a:effectLst/>
              <a:highlight>
                <a:srgbClr val="FFFFFF"/>
              </a:highlight>
            </a:endParaRPr>
          </a:p>
          <a:p>
            <a:r>
              <a:rPr lang="en-US" sz="2200" b="0" i="0" dirty="0">
                <a:effectLst/>
                <a:highlight>
                  <a:srgbClr val="FFFFFF"/>
                </a:highlight>
              </a:rPr>
              <a:t>With </a:t>
            </a:r>
            <a:r>
              <a:rPr lang="en-US" sz="2200" b="1" i="0" dirty="0">
                <a:effectLst/>
                <a:highlight>
                  <a:srgbClr val="FFFFFF"/>
                </a:highlight>
              </a:rPr>
              <a:t>collective nouns</a:t>
            </a:r>
            <a:r>
              <a:rPr lang="en-US" sz="2200" b="0" i="0" dirty="0">
                <a:effectLst/>
                <a:highlight>
                  <a:srgbClr val="FFFFFF"/>
                </a:highlight>
              </a:rPr>
              <a:t> such as </a:t>
            </a:r>
            <a:r>
              <a:rPr lang="en-US" sz="2200" b="1" i="1" dirty="0">
                <a:effectLst/>
                <a:highlight>
                  <a:srgbClr val="FFFFFF"/>
                </a:highlight>
              </a:rPr>
              <a:t>group</a:t>
            </a:r>
            <a:r>
              <a:rPr lang="en-US" sz="2200" b="1" i="0" dirty="0">
                <a:effectLst/>
                <a:highlight>
                  <a:srgbClr val="FFFFFF"/>
                </a:highlight>
              </a:rPr>
              <a:t>, </a:t>
            </a:r>
            <a:r>
              <a:rPr lang="en-US" sz="2200" b="1" i="1" dirty="0">
                <a:effectLst/>
                <a:highlight>
                  <a:srgbClr val="FFFFFF"/>
                </a:highlight>
              </a:rPr>
              <a:t>jury</a:t>
            </a:r>
            <a:r>
              <a:rPr lang="en-US" sz="2200" b="1" i="0" dirty="0">
                <a:effectLst/>
                <a:highlight>
                  <a:srgbClr val="FFFFFF"/>
                </a:highlight>
              </a:rPr>
              <a:t>, </a:t>
            </a:r>
            <a:r>
              <a:rPr lang="en-US" sz="2200" b="1" i="1" dirty="0">
                <a:effectLst/>
                <a:highlight>
                  <a:srgbClr val="FFFFFF"/>
                </a:highlight>
              </a:rPr>
              <a:t>family</a:t>
            </a:r>
            <a:r>
              <a:rPr lang="en-US" sz="2200" b="1" i="0" dirty="0">
                <a:effectLst/>
                <a:highlight>
                  <a:srgbClr val="FFFFFF"/>
                </a:highlight>
              </a:rPr>
              <a:t>, </a:t>
            </a:r>
            <a:r>
              <a:rPr lang="en-US" sz="2200" b="1" i="1" dirty="0">
                <a:effectLst/>
                <a:highlight>
                  <a:srgbClr val="FFFFFF"/>
                </a:highlight>
              </a:rPr>
              <a:t>audience</a:t>
            </a:r>
            <a:r>
              <a:rPr lang="en-US" sz="2200" b="1" i="0" dirty="0">
                <a:effectLst/>
                <a:highlight>
                  <a:srgbClr val="FFFFFF"/>
                </a:highlight>
              </a:rPr>
              <a:t>, </a:t>
            </a:r>
            <a:r>
              <a:rPr lang="en-US" sz="2200" b="1" i="1" dirty="0">
                <a:effectLst/>
                <a:highlight>
                  <a:srgbClr val="FFFFFF"/>
                </a:highlight>
              </a:rPr>
              <a:t>population</a:t>
            </a:r>
            <a:r>
              <a:rPr lang="en-US" sz="2200" b="0" i="0" dirty="0">
                <a:effectLst/>
                <a:highlight>
                  <a:srgbClr val="FFFFFF"/>
                </a:highlight>
              </a:rPr>
              <a:t>, the </a:t>
            </a:r>
            <a:r>
              <a:rPr lang="en-US" sz="2200" b="1" i="0" dirty="0">
                <a:effectLst/>
                <a:highlight>
                  <a:srgbClr val="FFFFFF"/>
                </a:highlight>
              </a:rPr>
              <a:t>verb</a:t>
            </a:r>
            <a:r>
              <a:rPr lang="en-US" sz="2200" b="0" i="0" dirty="0">
                <a:effectLst/>
                <a:highlight>
                  <a:srgbClr val="FFFFFF"/>
                </a:highlight>
              </a:rPr>
              <a:t> might be </a:t>
            </a:r>
            <a:r>
              <a:rPr lang="en-US" sz="2200" b="1" i="0" dirty="0">
                <a:effectLst/>
                <a:highlight>
                  <a:srgbClr val="FFFFFF"/>
                </a:highlight>
              </a:rPr>
              <a:t>singular or plural</a:t>
            </a:r>
            <a:r>
              <a:rPr lang="en-US" sz="2200" b="0" i="0" dirty="0">
                <a:effectLst/>
                <a:highlight>
                  <a:srgbClr val="FFFFFF"/>
                </a:highlight>
              </a:rPr>
              <a:t>, depending on the writer's intent.</a:t>
            </a:r>
          </a:p>
          <a:p>
            <a:pPr marL="0" indent="0">
              <a:buNone/>
            </a:pPr>
            <a:r>
              <a:rPr lang="en-US" sz="2200" b="0" i="1" dirty="0">
                <a:effectLst/>
                <a:highlight>
                  <a:srgbClr val="FFFFFF"/>
                </a:highlight>
              </a:rPr>
              <a:t>	</a:t>
            </a:r>
            <a:r>
              <a:rPr lang="en-US" sz="2200" b="1" i="1" dirty="0" err="1">
                <a:effectLst/>
                <a:highlight>
                  <a:srgbClr val="FFFFFF"/>
                </a:highlight>
              </a:rPr>
              <a:t>Eg</a:t>
            </a:r>
            <a:r>
              <a:rPr lang="en-US" sz="2200" b="1" i="1" dirty="0">
                <a:effectLst/>
                <a:highlight>
                  <a:srgbClr val="FFFFFF"/>
                </a:highlight>
              </a:rPr>
              <a:t>:</a:t>
            </a:r>
            <a:r>
              <a:rPr lang="en-US" sz="2200" b="0" i="1" dirty="0">
                <a:effectLst/>
                <a:highlight>
                  <a:srgbClr val="FFFFFF"/>
                </a:highlight>
              </a:rPr>
              <a:t> All of my </a:t>
            </a:r>
            <a:r>
              <a:rPr lang="en-US" sz="2200" b="1" i="1" dirty="0">
                <a:effectLst/>
                <a:highlight>
                  <a:srgbClr val="FFFFFF"/>
                </a:highlight>
              </a:rPr>
              <a:t>family</a:t>
            </a:r>
            <a:r>
              <a:rPr lang="en-US" sz="2200" b="0" i="1" dirty="0">
                <a:effectLst/>
                <a:highlight>
                  <a:srgbClr val="FFFFFF"/>
                </a:highlight>
              </a:rPr>
              <a:t> </a:t>
            </a:r>
            <a:r>
              <a:rPr lang="en-US" sz="2200" b="0" i="1" u="sng" dirty="0">
                <a:effectLst/>
                <a:highlight>
                  <a:srgbClr val="FFFFFF"/>
                </a:highlight>
              </a:rPr>
              <a:t>has arrived</a:t>
            </a:r>
            <a:r>
              <a:rPr lang="en-US" sz="2200" b="0" i="0" dirty="0">
                <a:effectLst/>
                <a:highlight>
                  <a:srgbClr val="FFFFFF"/>
                </a:highlight>
              </a:rPr>
              <a:t> OR </a:t>
            </a:r>
            <a:r>
              <a:rPr lang="en-US" sz="2200" b="0" i="1" u="sng" dirty="0">
                <a:effectLst/>
                <a:highlight>
                  <a:srgbClr val="FFFFFF"/>
                </a:highlight>
              </a:rPr>
              <a:t>have arrived</a:t>
            </a:r>
            <a:r>
              <a:rPr lang="en-US" sz="2200" b="0" i="1" dirty="0">
                <a:effectLst/>
                <a:highlight>
                  <a:srgbClr val="FFFFFF"/>
                </a:highlight>
              </a:rPr>
              <a:t>.</a:t>
            </a:r>
            <a:br>
              <a:rPr lang="en-US" sz="2200" b="0" i="1" dirty="0">
                <a:effectLst/>
                <a:highlight>
                  <a:srgbClr val="FFFFFF"/>
                </a:highlight>
              </a:rPr>
            </a:br>
            <a:r>
              <a:rPr lang="en-US" sz="2200" b="0" i="1" dirty="0">
                <a:effectLst/>
                <a:highlight>
                  <a:srgbClr val="FFFFFF"/>
                </a:highlight>
              </a:rPr>
              <a:t>	      Most of the </a:t>
            </a:r>
            <a:r>
              <a:rPr lang="en-US" sz="2200" b="1" i="1" dirty="0">
                <a:effectLst/>
                <a:highlight>
                  <a:srgbClr val="FFFFFF"/>
                </a:highlight>
              </a:rPr>
              <a:t>jury</a:t>
            </a:r>
            <a:r>
              <a:rPr lang="en-US" sz="2200" b="0" i="1" dirty="0">
                <a:effectLst/>
                <a:highlight>
                  <a:srgbClr val="FFFFFF"/>
                </a:highlight>
              </a:rPr>
              <a:t> </a:t>
            </a:r>
            <a:r>
              <a:rPr lang="en-US" sz="2200" b="0" i="1" u="sng" dirty="0">
                <a:effectLst/>
                <a:highlight>
                  <a:srgbClr val="FFFFFF"/>
                </a:highlight>
              </a:rPr>
              <a:t>is</a:t>
            </a:r>
            <a:r>
              <a:rPr lang="en-US" sz="2200" b="0" i="1" dirty="0">
                <a:effectLst/>
                <a:highlight>
                  <a:srgbClr val="FFFFFF"/>
                </a:highlight>
              </a:rPr>
              <a:t> here</a:t>
            </a:r>
            <a:r>
              <a:rPr lang="en-US" sz="2200" b="0" i="0" dirty="0">
                <a:effectLst/>
                <a:highlight>
                  <a:srgbClr val="FFFFFF"/>
                </a:highlight>
              </a:rPr>
              <a:t> OR </a:t>
            </a:r>
            <a:r>
              <a:rPr lang="en-US" sz="2200" b="0" i="1" u="sng" dirty="0">
                <a:effectLst/>
                <a:highlight>
                  <a:srgbClr val="FFFFFF"/>
                </a:highlight>
              </a:rPr>
              <a:t>are</a:t>
            </a:r>
            <a:r>
              <a:rPr lang="en-US" sz="2200" b="0" i="1" dirty="0">
                <a:effectLst/>
                <a:highlight>
                  <a:srgbClr val="FFFFFF"/>
                </a:highlight>
              </a:rPr>
              <a:t> here.</a:t>
            </a:r>
            <a:br>
              <a:rPr lang="en-US" sz="2200" b="0" i="1" dirty="0">
                <a:effectLst/>
                <a:highlight>
                  <a:srgbClr val="FFFFFF"/>
                </a:highlight>
              </a:rPr>
            </a:br>
            <a:r>
              <a:rPr lang="en-US" sz="2200" b="0" i="1" dirty="0">
                <a:effectLst/>
                <a:highlight>
                  <a:srgbClr val="FFFFFF"/>
                </a:highlight>
              </a:rPr>
              <a:t> 	     A </a:t>
            </a:r>
            <a:r>
              <a:rPr lang="en-US" sz="2200" b="0" i="1" u="sng" dirty="0">
                <a:effectLst/>
                <a:highlight>
                  <a:srgbClr val="FFFFFF"/>
                </a:highlight>
              </a:rPr>
              <a:t>third</a:t>
            </a:r>
            <a:r>
              <a:rPr lang="en-US" sz="2200" b="0" i="1" dirty="0">
                <a:effectLst/>
                <a:highlight>
                  <a:srgbClr val="FFFFFF"/>
                </a:highlight>
              </a:rPr>
              <a:t> of the </a:t>
            </a:r>
            <a:r>
              <a:rPr lang="en-US" sz="2200" b="1" i="1" dirty="0">
                <a:effectLst/>
                <a:highlight>
                  <a:srgbClr val="FFFFFF"/>
                </a:highlight>
              </a:rPr>
              <a:t>population</a:t>
            </a:r>
            <a:r>
              <a:rPr lang="en-US" sz="2200" b="0" i="1" dirty="0">
                <a:effectLst/>
                <a:highlight>
                  <a:srgbClr val="FFFFFF"/>
                </a:highlight>
              </a:rPr>
              <a:t> </a:t>
            </a:r>
            <a:r>
              <a:rPr lang="en-US" sz="2200" b="0" i="1" u="sng" dirty="0">
                <a:effectLst/>
                <a:highlight>
                  <a:srgbClr val="FFFFFF"/>
                </a:highlight>
              </a:rPr>
              <a:t>was</a:t>
            </a:r>
            <a:r>
              <a:rPr lang="en-US" sz="2200" b="0" i="1" dirty="0">
                <a:effectLst/>
                <a:highlight>
                  <a:srgbClr val="FFFFFF"/>
                </a:highlight>
              </a:rPr>
              <a:t> not in favor</a:t>
            </a:r>
            <a:r>
              <a:rPr lang="en-US" sz="2200" b="0" i="0" dirty="0">
                <a:effectLst/>
                <a:highlight>
                  <a:srgbClr val="FFFFFF"/>
                </a:highlight>
              </a:rPr>
              <a:t> OR </a:t>
            </a:r>
            <a:r>
              <a:rPr lang="en-US" sz="2200" b="0" i="1" u="sng" dirty="0">
                <a:effectLst/>
                <a:highlight>
                  <a:srgbClr val="FFFFFF"/>
                </a:highlight>
              </a:rPr>
              <a:t>were</a:t>
            </a:r>
            <a:r>
              <a:rPr lang="en-US" sz="2200" b="0" i="1" dirty="0">
                <a:effectLst/>
                <a:highlight>
                  <a:srgbClr val="FFFFFF"/>
                </a:highlight>
              </a:rPr>
              <a:t> not in favor of the bill.</a:t>
            </a:r>
            <a:endParaRPr lang="en-IN" sz="2200" dirty="0"/>
          </a:p>
          <a:p>
            <a:pPr marL="0" indent="0">
              <a:buNone/>
            </a:pPr>
            <a:endParaRPr lang="en-US" sz="2200" b="0" i="0" dirty="0">
              <a:effectLst/>
              <a:highlight>
                <a:srgbClr val="FFFFFF"/>
              </a:highlight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0585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326</TotalTime>
  <Words>1045</Words>
  <Application>Microsoft Office PowerPoint</Application>
  <PresentationFormat>Widescreen</PresentationFormat>
  <Paragraphs>201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Basic Grammer</vt:lpstr>
      <vt:lpstr>PowerPoint Presentation</vt:lpstr>
      <vt:lpstr>Past Tense</vt:lpstr>
      <vt:lpstr>PowerPoint Presentation</vt:lpstr>
      <vt:lpstr>PowerPoint Presentation</vt:lpstr>
      <vt:lpstr>PowerPoint Presentation</vt:lpstr>
      <vt:lpstr>PowerPoint Presentation</vt:lpstr>
      <vt:lpstr>Present Tense</vt:lpstr>
      <vt:lpstr>PowerPoint Presentation</vt:lpstr>
      <vt:lpstr>PowerPoint Presentation</vt:lpstr>
      <vt:lpstr>PowerPoint Presentation</vt:lpstr>
      <vt:lpstr>PowerPoint Presentation</vt:lpstr>
      <vt:lpstr>Future Tense</vt:lpstr>
      <vt:lpstr>PowerPoint Presentation</vt:lpstr>
      <vt:lpstr>PowerPoint Presentation</vt:lpstr>
      <vt:lpstr>PowerPoint Presentation</vt:lpstr>
      <vt:lpstr>PowerPoint Presentation</vt:lpstr>
      <vt:lpstr>Subject Verb Agreement</vt:lpstr>
      <vt:lpstr>Rules</vt:lpstr>
      <vt:lpstr>Rules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Krishnaveni H</dc:creator>
  <cp:lastModifiedBy>H, Krishnaveni (Contractor)</cp:lastModifiedBy>
  <cp:revision>72</cp:revision>
  <dcterms:created xsi:type="dcterms:W3CDTF">2024-04-12T04:40:23Z</dcterms:created>
  <dcterms:modified xsi:type="dcterms:W3CDTF">2024-11-13T04:33:16Z</dcterms:modified>
</cp:coreProperties>
</file>